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955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8FD3C9"/>
                </a:solidFill>
                <a:latin typeface="Arial"/>
              </a:rPr>
              <a:t>PIPELINE FURNITURE LTD -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2476500"/>
            <a:ext cx="1016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Budget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6E3"/>
                </a:solidFill>
                <a:latin typeface="Arial"/>
              </a:rPr>
              <a:t>Board meeting, 16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6096000"/>
            <a:ext cx="1016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2C6"/>
                </a:solidFill>
                <a:latin typeface="Arial"/>
              </a:rPr>
              <a:t>Pipeline Furniture Ltd - fictional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FY2026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All figures in 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2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15.6M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EUR, contract and dealer channels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8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800" y="1905000"/>
            <a:ext cx="3454400" cy="508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EBITDA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8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3.88M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8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EUR, 24.9% of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6400" y="1905000"/>
            <a:ext cx="345440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6400" y="1905000"/>
            <a:ext cx="3454400" cy="50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2159000"/>
            <a:ext cx="2946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785"/>
                </a:solidFill>
                <a:latin typeface="Arial"/>
              </a:rPr>
              <a:t>MONTHLY EBITDA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2540000"/>
            <a:ext cx="29464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2733"/>
                </a:solidFill>
                <a:latin typeface="Arial"/>
              </a:rPr>
              <a:t>324k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400" y="32385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B4856"/>
                </a:solidFill>
                <a:latin typeface="Arial"/>
              </a:rPr>
              <a:t>EUR, flat profile (April: KPC kickoff)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1200" y="4191000"/>
            <a:ext cx="10769600" cy="12700"/>
          </a:xfrm>
          <a:prstGeom prst="rect">
            <a:avLst/>
          </a:prstGeom>
          <a:solidFill>
            <a:srgbClr val="C9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200" y="4445000"/>
            <a:ext cx="107696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B4856"/>
                </a:solidFill>
                <a:latin typeface="Arial"/>
              </a:rPr>
              <a:t>A flat monthly plan: timber prices held at the 2025 list, temporary labour limited to holiday cover, the new web shop not budgeted.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FY2026 budget by P&amp;L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244600"/>
            <a:ext cx="10769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785"/>
                </a:solidFill>
                <a:latin typeface="Arial"/>
              </a:rPr>
              <a:t>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1200" y="1587500"/>
          <a:ext cx="1076325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150"/>
                <a:gridCol w="2368550"/>
                <a:gridCol w="2368550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P&amp;L line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FY2026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Per month (avg)</a:t>
                      </a:r>
                    </a:p>
                  </a:txBody>
                  <a:tcPr marL="101600" marR="101600" marT="0" marB="0" anchor="ctr">
                    <a:solidFill>
                      <a:srgbClr val="1F3A5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Contract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9,840,000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Dealers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5,760,000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Revenue - Online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Timber &amp; panels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3,480,000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290,000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Metal fittings &amp; hardware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1,380,000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115,000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Direct labour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3,060,000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255,000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Temporary labour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96,000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8,000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Freight out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528,000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44,000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372,000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31,000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Professional fees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188,000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15,667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Rent &amp; facilities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Other overheads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696,000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58,000</a:t>
                      </a:r>
                    </a:p>
                  </a:txBody>
                  <a:tcPr marL="101600" marR="101600" marT="0" marB="0" anchor="ctr">
                    <a:solidFill>
                      <a:srgbClr val="F0F4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Salaries - admin &amp; sales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1,440,000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B2733"/>
                          </a:solidFill>
                          <a:latin typeface="Arial"/>
                        </a:rPr>
                        <a:t>120,000</a:t>
                      </a:r>
                    </a:p>
                  </a:txBody>
                  <a:tcPr marL="101600" marR="101600" marT="0" marB="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3,880,000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B2733"/>
                          </a:solidFill>
                          <a:latin typeface="Arial"/>
                        </a:rPr>
                        <a:t>323,333</a:t>
                      </a:r>
                    </a:p>
                  </a:txBody>
                  <a:tcPr marL="101600" marR="101600" marT="0" marB="0" anchor="ctr">
                    <a:solidFill>
                      <a:srgbClr val="E9EE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Key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9304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18415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Timber prices flat versus 2025 (Brightwood Timber about EUR 150k per month at 2025 price list).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24130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3241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Belvedere Hotel Group order BHG-2291 (EUR 45k) delivered and invoiced in March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28956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28067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Temporary labour limited to EUR 8k per month (holiday cover only).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2893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Online web shop launch not budgeted (pilot, upside only).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38608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37719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KPC Advisory ERP phase 2 starts in April 2026 (EUR 8k kickoff invoice).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200" y="43434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2545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Variance threshold for commentary: EUR 5,000 per P&amp;L line per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1200" y="508000"/>
            <a:ext cx="107696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Arial"/>
              </a:rPr>
              <a:t>Reporting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066800"/>
            <a:ext cx="609600" cy="381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6413500"/>
            <a:ext cx="10134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Pipeline Furniture Ltd - Finance - fictional data for the 42 Paris x screenpipe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35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19304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200" y="18415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Monthly management pack sent to the CFO by working day 5.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200" y="24130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324100"/>
            <a:ext cx="105156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Every P&amp;L line with a variance of EUR 5,000 or more is explained: the cause, and whether it repeats next month.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200" y="3213100"/>
            <a:ext cx="76200" cy="76200"/>
          </a:xfrm>
          <a:prstGeom prst="rect">
            <a:avLst/>
          </a:prstGeom>
          <a:solidFill>
            <a:srgbClr val="1E7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3124200"/>
            <a:ext cx="105156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3B4856"/>
                </a:solidFill>
                <a:latin typeface="Arial"/>
              </a:rPr>
              <a:t>Variances are shown favourable positive, adverse negative.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2026</dc:title>
  <dc:subject/>
  <dc:creator>Claire Donnelly</dc:creator>
  <cp:keywords/>
  <dc:description>generated using python-pptx</dc:description>
  <cp:lastModifiedBy>Claire Donnelly</cp:lastModifiedBy>
  <cp:revision>1</cp:revision>
  <dcterms:created xsi:type="dcterms:W3CDTF">2026-04-01T09:00:00Z</dcterms:created>
  <dcterms:modified xsi:type="dcterms:W3CDTF">2026-04-01T09:00:00Z</dcterms:modified>
  <cp:category/>
</cp:coreProperties>
</file>