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0955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FD3C9"/>
                </a:solidFill>
                <a:latin typeface="Arial"/>
              </a:rPr>
              <a:t>PIPELINE FURNITURE LTD -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476500"/>
            <a:ext cx="10160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Management pack -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3937000"/>
            <a:ext cx="10160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9D6E3"/>
                </a:solidFill>
                <a:latin typeface="Arial"/>
              </a:rPr>
              <a:t>DRAFT - commentary to be written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6096000"/>
            <a:ext cx="1016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FB2C6"/>
                </a:solidFill>
                <a:latin typeface="Arial"/>
              </a:rPr>
              <a:t>Pipeline Furniture Ltd - fictional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1200" y="508000"/>
            <a:ext cx="10769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Arial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066800"/>
            <a:ext cx="609600" cy="381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1244600"/>
            <a:ext cx="10769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785"/>
                </a:solidFill>
                <a:latin typeface="Arial"/>
              </a:rPr>
              <a:t>March 2026 - 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6413500"/>
            <a:ext cx="10134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Pipeline Furniture Ltd - Finance - fictional data for the 42 Paris x screenpipe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35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711200" y="1905000"/>
            <a:ext cx="34544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200" y="1905000"/>
            <a:ext cx="3454400" cy="508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2159000"/>
            <a:ext cx="2946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785"/>
                </a:solidFill>
                <a:latin typeface="Arial"/>
              </a:rPr>
              <a:t>EBITDA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540000"/>
            <a:ext cx="2946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733"/>
                </a:solidFill>
                <a:latin typeface="Arial"/>
              </a:rPr>
              <a:t>276.9k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32385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B4856"/>
                </a:solidFill>
                <a:latin typeface="Arial"/>
              </a:rPr>
              <a:t>vs budget 324.0k (-47.1k)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800" y="1905000"/>
            <a:ext cx="34544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800" y="1905000"/>
            <a:ext cx="3454400" cy="508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2800" y="2159000"/>
            <a:ext cx="2946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785"/>
                </a:solidFill>
                <a:latin typeface="Arial"/>
              </a:rPr>
              <a:t>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2800" y="2540000"/>
            <a:ext cx="2946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733"/>
                </a:solidFill>
                <a:latin typeface="Arial"/>
              </a:rPr>
              <a:t>1.29M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2800" y="32385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B4856"/>
                </a:solidFill>
                <a:latin typeface="Arial"/>
              </a:rPr>
              <a:t>vs budget 1.30M (-8.1k)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6400" y="1905000"/>
            <a:ext cx="34544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6400" y="1905000"/>
            <a:ext cx="3454400" cy="50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0400" y="2159000"/>
            <a:ext cx="2946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785"/>
                </a:solidFill>
                <a:latin typeface="Arial"/>
              </a:rPr>
              <a:t>LINES TO 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400" y="2540000"/>
            <a:ext cx="2946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733"/>
                </a:solidFill>
                <a:latin typeface="Arial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400" y="32385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B4856"/>
                </a:solidFill>
                <a:latin typeface="Arial"/>
              </a:rPr>
              <a:t>variance of EUR 5,000 or more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1200" y="4191000"/>
            <a:ext cx="10769600" cy="12700"/>
          </a:xfrm>
          <a:prstGeom prst="rect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200" y="4445000"/>
            <a:ext cx="107696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B4856"/>
                </a:solidFill>
                <a:latin typeface="Arial"/>
              </a:rPr>
              <a:t>EBITDA 47.1k below budget with seven lines above the threshold. Commentary in progress.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1200" y="508000"/>
            <a:ext cx="10769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Arial"/>
              </a:rPr>
              <a:t>P&amp;L vs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066800"/>
            <a:ext cx="609600" cy="381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1244600"/>
            <a:ext cx="10769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785"/>
                </a:solidFill>
                <a:latin typeface="Arial"/>
              </a:rPr>
              <a:t>March 2026 - EUR - favourable variances are positive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6413500"/>
            <a:ext cx="10134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Pipeline Furniture Ltd - Finance - fictional data for the 42 Paris x screenpipe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35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1200" y="1587500"/>
          <a:ext cx="107569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3500"/>
                <a:gridCol w="1720850"/>
                <a:gridCol w="1720850"/>
                <a:gridCol w="1936750"/>
                <a:gridCol w="1504950"/>
              </a:tblGrid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P&amp;L line</a:t>
                      </a:r>
                    </a:p>
                  </a:txBody>
                  <a:tcPr marL="101600" marR="101600" marT="0" marB="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 marL="101600" marR="101600" marT="0" marB="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101600" marR="101600" marT="0" marB="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Variance (fav +)</a:t>
                      </a:r>
                    </a:p>
                  </a:txBody>
                  <a:tcPr marL="101600" marR="101600" marT="0" marB="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Over 5k</a:t>
                      </a:r>
                    </a:p>
                  </a:txBody>
                  <a:tcPr marL="101600" marR="101600" marT="0" marB="0" anchor="ctr">
                    <a:solidFill>
                      <a:srgbClr val="1F3A5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Revenue - Contract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803,000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820,000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-17,000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Revenue - Dealers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482,500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480,000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+2,500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Revenue - Online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6,400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+6,400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Timber &amp; panels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302,400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290,000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-12,400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Metal fittings &amp; hardware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116,100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115,000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-1,100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Direct labour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256,200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255,000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-1,200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Temporary labour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22,000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8,000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-14,000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Freight out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50,200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44,000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-6,200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Energy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25,400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31,000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+5,600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Professional fees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23,000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15,000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-8,000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Rent &amp; facilities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+0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Other overheads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59,300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58,000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-1,300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Salaries - admin &amp; sales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120,400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120,000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-400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733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101600" marR="101600" marT="0" marB="0" anchor="ctr"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B2733"/>
                          </a:solidFill>
                          <a:latin typeface="Arial"/>
                        </a:rPr>
                        <a:t>276,900</a:t>
                      </a:r>
                    </a:p>
                  </a:txBody>
                  <a:tcPr marL="101600" marR="101600" marT="0" marB="0" anchor="ctr"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B2733"/>
                          </a:solidFill>
                          <a:latin typeface="Arial"/>
                        </a:rPr>
                        <a:t>324,000</a:t>
                      </a:r>
                    </a:p>
                  </a:txBody>
                  <a:tcPr marL="101600" marR="101600" marT="0" marB="0" anchor="ctr"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B2733"/>
                          </a:solidFill>
                          <a:latin typeface="Arial"/>
                        </a:rPr>
                        <a:t>-47,100</a:t>
                      </a:r>
                    </a:p>
                  </a:txBody>
                  <a:tcPr marL="101600" marR="101600" marT="0" marB="0" anchor="ctr"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E9EE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1200" y="508000"/>
            <a:ext cx="10769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Arial"/>
              </a:rPr>
              <a:t>Variance commentary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066800"/>
            <a:ext cx="609600" cy="381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6413500"/>
            <a:ext cx="10134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Pipeline Furniture Ltd - Finance - fictional data for the 42 Paris x screenpipe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35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200" y="1905000"/>
            <a:ext cx="107696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3D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600" y="2667000"/>
            <a:ext cx="99568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6B7785"/>
                </a:solidFill>
                <a:latin typeface="Arial"/>
              </a:rPr>
              <a:t>To do: explain every line marked Comment, with the cause, the source and whether it repeats next month.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Management pack 2026-03</dc:title>
  <dc:subject/>
  <dc:creator>Claire Donnelly</dc:creator>
  <cp:keywords/>
  <dc:description>generated using python-pptx</dc:description>
  <cp:lastModifiedBy>Claire Donnelly</cp:lastModifiedBy>
  <cp:revision>1</cp:revision>
  <dcterms:created xsi:type="dcterms:W3CDTF">2026-04-01T09:00:00Z</dcterms:created>
  <dcterms:modified xsi:type="dcterms:W3CDTF">2026-04-01T09:00:00Z</dcterms:modified>
  <cp:category/>
</cp:coreProperties>
</file>